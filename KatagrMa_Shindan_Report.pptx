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KATAGRMA ×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保育経営診断ツール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5B8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プロトタイプ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完成報告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645920" cy="0"/>
          </a:xfrm>
          <a:prstGeom prst="line">
            <a:avLst/>
          </a:prstGeom>
          <a:noFill/>
          <a:ln w="38100">
            <a:solidFill>
              <a:srgbClr val="A5B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7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Beyond SaaS 戦略 Step 1 「まず懐に入る」を実現する入口ツール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AI分析による保育施設経営診断 / MSO型マネジメントパートナーへの導線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2026年4月  |  KatagrMa Beyond SaaS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A5B8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戦略的位置付け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キャリアパス診断の成功パターンを「保育経営全般」へ横展開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86000"/>
            <a:ext cx="2834640" cy="73152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2560320"/>
            <a:ext cx="457200" cy="457200"/>
          </a:xfrm>
          <a:prstGeom prst="ellipse">
            <a:avLst/>
          </a:prstGeom>
          <a:solidFill>
            <a:srgbClr val="A5B830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5156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無償診断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5156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8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月間100件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0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▶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31920" y="22860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931920" y="2286000"/>
            <a:ext cx="2743200" cy="73152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2560320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6" name="Text 13"/>
          <p:cNvSpPr/>
          <p:nvPr/>
        </p:nvSpPr>
        <p:spPr>
          <a:xfrm>
            <a:off x="41605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16052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結果フィードバック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1605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100%メール取得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75120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949440" y="228600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49440" y="2286000"/>
            <a:ext cx="2468880" cy="73152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22" name="Shape 19"/>
          <p:cNvSpPr/>
          <p:nvPr/>
        </p:nvSpPr>
        <p:spPr>
          <a:xfrm>
            <a:off x="7178040" y="2560320"/>
            <a:ext cx="457200" cy="457200"/>
          </a:xfrm>
          <a:prstGeom prst="ellipse">
            <a:avLst/>
          </a:prstGeom>
          <a:solidFill>
            <a:srgbClr val="E8740C"/>
          </a:solidFill>
          <a:ln/>
        </p:spPr>
      </p:sp>
      <p:sp>
        <p:nvSpPr>
          <p:cNvPr id="23" name="Text 20"/>
          <p:cNvSpPr/>
          <p:nvPr/>
        </p:nvSpPr>
        <p:spPr>
          <a:xfrm>
            <a:off x="71780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17804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PoC提案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17804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目標CVR 20%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418320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▶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692640" y="2286000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692640" y="2286000"/>
            <a:ext cx="2103120" cy="73152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9" name="Shape 26"/>
          <p:cNvSpPr/>
          <p:nvPr/>
        </p:nvSpPr>
        <p:spPr>
          <a:xfrm>
            <a:off x="9921240" y="2560320"/>
            <a:ext cx="457200" cy="457200"/>
          </a:xfrm>
          <a:prstGeom prst="ellipse">
            <a:avLst/>
          </a:prstGeom>
          <a:solidFill>
            <a:srgbClr val="CC3333"/>
          </a:solidFill>
          <a:ln/>
        </p:spPr>
      </p:sp>
      <p:sp>
        <p:nvSpPr>
          <p:cNvPr id="30" name="Text 27"/>
          <p:cNvSpPr/>
          <p:nvPr/>
        </p:nvSpPr>
        <p:spPr>
          <a:xfrm>
            <a:off x="99212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92124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MSO本契約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92124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PoC移行率 30%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22960" y="4754880"/>
            <a:ext cx="10515600" cy="1554480"/>
          </a:xfrm>
          <a:prstGeom prst="rect">
            <a:avLst/>
          </a:prstGeom>
          <a:solidFill>
            <a:srgbClr val="F0F3D8"/>
          </a:solidFill>
          <a:ln/>
        </p:spPr>
      </p:sp>
      <p:sp>
        <p:nvSpPr>
          <p:cNvPr id="34" name="Shape 31"/>
          <p:cNvSpPr/>
          <p:nvPr/>
        </p:nvSpPr>
        <p:spPr>
          <a:xfrm>
            <a:off x="822960" y="4754880"/>
            <a:ext cx="73152" cy="155448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35" name="Text 32"/>
          <p:cNvSpPr/>
          <p:nvPr/>
        </p:nvSpPr>
        <p:spPr>
          <a:xfrm>
            <a:off x="1051560" y="4846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4A7C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なぜ診断ツールか — Insight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051560" y="51663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「キャリアパス診断」（Googleフォーム）をウェビナーオプションで提供したところ、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大量の申込を獲得し、結果フィードバックを通じて継続的なアポ取得に成功。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この成功パターンを経営診断に横展開し、AIで高度化することで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船井総研的プライムポジション（よろず相談の受け皿）の確立を目指す。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2296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KatagrMa 保育経営診断ツール  |  2026.04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A5B8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ユーザー体験 — 5〜10分で完結する診断フロー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モバイルファースト設計 / プログレスバー表示 / 質問は6カテゴリ×5問の計30問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1691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377440"/>
            <a:ext cx="1691640" cy="73152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560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724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ランディング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611880"/>
            <a:ext cx="457200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703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「5分で診断」で誘導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23160" y="2377440"/>
            <a:ext cx="1691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23160" y="2377440"/>
            <a:ext cx="1691640" cy="73152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0" y="2560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56032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基本情報入力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560320" y="3611880"/>
            <a:ext cx="457200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0" y="3703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法人名・メール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電話番号など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06240" y="2377440"/>
            <a:ext cx="1691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06240" y="2377440"/>
            <a:ext cx="1691640" cy="73152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20" name="Text 17"/>
          <p:cNvSpPr/>
          <p:nvPr/>
        </p:nvSpPr>
        <p:spPr>
          <a:xfrm>
            <a:off x="4343400" y="2560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34340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診断30問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343400" y="3611880"/>
            <a:ext cx="457200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43400" y="3703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6カテゴリ×5問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5段階スケール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89320" y="2377440"/>
            <a:ext cx="1691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89320" y="2377440"/>
            <a:ext cx="1691640" cy="73152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26" name="Text 23"/>
          <p:cNvSpPr/>
          <p:nvPr/>
        </p:nvSpPr>
        <p:spPr>
          <a:xfrm>
            <a:off x="6126480" y="2560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612648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AI分析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126480" y="3611880"/>
            <a:ext cx="457200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703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Opus 4.7が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約10〜15秒で生成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772400" y="2377440"/>
            <a:ext cx="1691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772400" y="2377440"/>
            <a:ext cx="1691640" cy="73152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32" name="Text 29"/>
          <p:cNvSpPr/>
          <p:nvPr/>
        </p:nvSpPr>
        <p:spPr>
          <a:xfrm>
            <a:off x="7909560" y="2560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790956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結果レポート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909560" y="3611880"/>
            <a:ext cx="457200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09560" y="3703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レーダーチャート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＋改善提案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555480" y="2377440"/>
            <a:ext cx="1691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9555480" y="2377440"/>
            <a:ext cx="1691640" cy="73152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38" name="Text 35"/>
          <p:cNvSpPr/>
          <p:nvPr/>
        </p:nvSpPr>
        <p:spPr>
          <a:xfrm>
            <a:off x="9692640" y="2560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969264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個別相談申込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9692640" y="3611880"/>
            <a:ext cx="457200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692640" y="3703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詳細計画の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無料提案へ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40080" y="5120640"/>
            <a:ext cx="10881360" cy="1188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3" name="Text 40"/>
          <p:cNvSpPr/>
          <p:nvPr/>
        </p:nvSpPr>
        <p:spPr>
          <a:xfrm>
            <a:off x="82296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2800" dirty="0"/>
          </a:p>
        </p:txBody>
      </p:sp>
      <p:sp>
        <p:nvSpPr>
          <p:cNvPr id="44" name="Text 41"/>
          <p:cNvSpPr/>
          <p:nvPr/>
        </p:nvSpPr>
        <p:spPr>
          <a:xfrm>
            <a:off x="822960" y="5806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メールアドレス取得率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356616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6カテゴリ</a:t>
            </a:r>
            <a:endParaRPr lang="en-US" sz="2800" dirty="0"/>
          </a:p>
        </p:txBody>
      </p:sp>
      <p:sp>
        <p:nvSpPr>
          <p:cNvPr id="46" name="Text 43"/>
          <p:cNvSpPr/>
          <p:nvPr/>
        </p:nvSpPr>
        <p:spPr>
          <a:xfrm>
            <a:off x="3566160" y="5806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経営機能網羅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30936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30問</a:t>
            </a:r>
            <a:endParaRPr lang="en-US" sz="2800" dirty="0"/>
          </a:p>
        </p:txBody>
      </p:sp>
      <p:sp>
        <p:nvSpPr>
          <p:cNvPr id="48" name="Text 45"/>
          <p:cNvSpPr/>
          <p:nvPr/>
        </p:nvSpPr>
        <p:spPr>
          <a:xfrm>
            <a:off x="6309360" y="5806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回答負荷を最小化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905256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10秒</a:t>
            </a:r>
            <a:endParaRPr lang="en-US" sz="2800" dirty="0"/>
          </a:p>
        </p:txBody>
      </p:sp>
      <p:sp>
        <p:nvSpPr>
          <p:cNvPr id="50" name="Text 47"/>
          <p:cNvSpPr/>
          <p:nvPr/>
        </p:nvSpPr>
        <p:spPr>
          <a:xfrm>
            <a:off x="9052560" y="5806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AI分析完了時間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2296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KatagrMa 保育経営診断ツール  |  2026.04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A5B8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AI分析エンジン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最新AIで保育業界の専門用語・制度・加算に踏み込んだ所見と改善提案を自動生成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4846320" cy="40233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03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Opus 4.7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7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Anthropic 最新・最高性能モデル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3291840"/>
            <a:ext cx="164592" cy="164592"/>
          </a:xfrm>
          <a:prstGeom prst="ellipse">
            <a:avLst/>
          </a:prstGeom>
          <a:solidFill>
            <a:srgbClr val="A5B830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適応的思考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複雑な診断を自動で熟考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3977640"/>
            <a:ext cx="164592" cy="164592"/>
          </a:xfrm>
          <a:prstGeom prst="ellipse">
            <a:avLst/>
          </a:prstGeom>
          <a:solidFill>
            <a:srgbClr val="A5B830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構造化出力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Schema完全準拠で確実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14400" y="4663440"/>
            <a:ext cx="164592" cy="164592"/>
          </a:xfrm>
          <a:prstGeom prst="ellipse">
            <a:avLst/>
          </a:prstGeom>
          <a:solidFill>
            <a:srgbClr val="A5B830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4572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プロンプトキャッシュ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88720" y="4892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コスト最適化（最大90%削減）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5349240"/>
            <a:ext cx="164592" cy="164592"/>
          </a:xfrm>
          <a:prstGeom prst="ellipse">
            <a:avLst/>
          </a:prstGeom>
          <a:solidFill>
            <a:srgbClr val="A5B830"/>
          </a:solidFill>
          <a:ln/>
        </p:spPr>
      </p:sp>
      <p:sp>
        <p:nvSpPr>
          <p:cNvPr id="19" name="Text 16"/>
          <p:cNvSpPr/>
          <p:nvPr/>
        </p:nvSpPr>
        <p:spPr>
          <a:xfrm>
            <a:off x="1188720" y="5257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ストリーミング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88720" y="5577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タイムアウト耐性確保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52160" y="1920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6カテゴリ × MSO機能マッピング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852160" y="2377440"/>
            <a:ext cx="5760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52160" y="2377440"/>
            <a:ext cx="91440" cy="50292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24" name="Shape 21"/>
          <p:cNvSpPr/>
          <p:nvPr/>
        </p:nvSpPr>
        <p:spPr>
          <a:xfrm>
            <a:off x="6080760" y="2542032"/>
            <a:ext cx="182880" cy="182880"/>
          </a:xfrm>
          <a:prstGeom prst="ellipse">
            <a:avLst/>
          </a:prstGeom>
          <a:solidFill>
            <a:srgbClr val="A5B830"/>
          </a:solidFill>
          <a:ln/>
        </p:spPr>
      </p:sp>
      <p:sp>
        <p:nvSpPr>
          <p:cNvPr id="25" name="Text 22"/>
          <p:cNvSpPr/>
          <p:nvPr/>
        </p:nvSpPr>
        <p:spPr>
          <a:xfrm>
            <a:off x="635508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人財育成・評価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875520" y="2468880"/>
            <a:ext cx="1554480" cy="32004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27" name="Text 24"/>
          <p:cNvSpPr/>
          <p:nvPr/>
        </p:nvSpPr>
        <p:spPr>
          <a:xfrm>
            <a:off x="987552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MSO Think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52160" y="2953512"/>
            <a:ext cx="5760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52160" y="2953512"/>
            <a:ext cx="91440" cy="5029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0" name="Shape 27"/>
          <p:cNvSpPr/>
          <p:nvPr/>
        </p:nvSpPr>
        <p:spPr>
          <a:xfrm>
            <a:off x="6080760" y="3118104"/>
            <a:ext cx="182880" cy="18288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1" name="Text 28"/>
          <p:cNvSpPr/>
          <p:nvPr/>
        </p:nvSpPr>
        <p:spPr>
          <a:xfrm>
            <a:off x="6355080" y="29535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採用・人員確保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9875520" y="3044952"/>
            <a:ext cx="1554480" cy="32004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3" name="Text 30"/>
          <p:cNvSpPr/>
          <p:nvPr/>
        </p:nvSpPr>
        <p:spPr>
          <a:xfrm>
            <a:off x="9875520" y="3044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MSO Attract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852160" y="3529584"/>
            <a:ext cx="5760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852160" y="3529584"/>
            <a:ext cx="91440" cy="50292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36" name="Shape 33"/>
          <p:cNvSpPr/>
          <p:nvPr/>
        </p:nvSpPr>
        <p:spPr>
          <a:xfrm>
            <a:off x="6080760" y="3694176"/>
            <a:ext cx="182880" cy="182880"/>
          </a:xfrm>
          <a:prstGeom prst="ellipse">
            <a:avLst/>
          </a:prstGeom>
          <a:solidFill>
            <a:srgbClr val="E8740C"/>
          </a:solidFill>
          <a:ln/>
        </p:spPr>
      </p:sp>
      <p:sp>
        <p:nvSpPr>
          <p:cNvPr id="37" name="Text 34"/>
          <p:cNvSpPr/>
          <p:nvPr/>
        </p:nvSpPr>
        <p:spPr>
          <a:xfrm>
            <a:off x="6355080" y="35295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労務・制度対応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9875520" y="3621024"/>
            <a:ext cx="1554480" cy="32004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39" name="Text 36"/>
          <p:cNvSpPr/>
          <p:nvPr/>
        </p:nvSpPr>
        <p:spPr>
          <a:xfrm>
            <a:off x="9875520" y="36210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MSO Run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852160" y="4105656"/>
            <a:ext cx="5760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852160" y="4105656"/>
            <a:ext cx="91440" cy="50292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42" name="Shape 39"/>
          <p:cNvSpPr/>
          <p:nvPr/>
        </p:nvSpPr>
        <p:spPr>
          <a:xfrm>
            <a:off x="6080760" y="4270248"/>
            <a:ext cx="182880" cy="182880"/>
          </a:xfrm>
          <a:prstGeom prst="ellipse">
            <a:avLst/>
          </a:prstGeom>
          <a:solidFill>
            <a:srgbClr val="A5B830"/>
          </a:solidFill>
          <a:ln/>
        </p:spPr>
      </p:sp>
      <p:sp>
        <p:nvSpPr>
          <p:cNvPr id="43" name="Text 40"/>
          <p:cNvSpPr/>
          <p:nvPr/>
        </p:nvSpPr>
        <p:spPr>
          <a:xfrm>
            <a:off x="6355080" y="41056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組織マネジメント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9875520" y="4197096"/>
            <a:ext cx="1554480" cy="32004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45" name="Text 42"/>
          <p:cNvSpPr/>
          <p:nvPr/>
        </p:nvSpPr>
        <p:spPr>
          <a:xfrm>
            <a:off x="9875520" y="41970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MSO Think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852160" y="4681728"/>
            <a:ext cx="5760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852160" y="4681728"/>
            <a:ext cx="91440" cy="50292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48" name="Shape 45"/>
          <p:cNvSpPr/>
          <p:nvPr/>
        </p:nvSpPr>
        <p:spPr>
          <a:xfrm>
            <a:off x="6080760" y="4846320"/>
            <a:ext cx="182880" cy="182880"/>
          </a:xfrm>
          <a:prstGeom prst="ellipse">
            <a:avLst/>
          </a:prstGeom>
          <a:solidFill>
            <a:srgbClr val="E8740C"/>
          </a:solidFill>
          <a:ln/>
        </p:spPr>
      </p:sp>
      <p:sp>
        <p:nvSpPr>
          <p:cNvPr id="49" name="Text 46"/>
          <p:cNvSpPr/>
          <p:nvPr/>
        </p:nvSpPr>
        <p:spPr>
          <a:xfrm>
            <a:off x="6355080" y="46817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財務・経営戦略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9875520" y="4773168"/>
            <a:ext cx="1554480" cy="32004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51" name="Text 48"/>
          <p:cNvSpPr/>
          <p:nvPr/>
        </p:nvSpPr>
        <p:spPr>
          <a:xfrm>
            <a:off x="9875520" y="4773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MSO Run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852160" y="5257800"/>
            <a:ext cx="5760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852160" y="5257800"/>
            <a:ext cx="91440" cy="50292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54" name="Shape 51"/>
          <p:cNvSpPr/>
          <p:nvPr/>
        </p:nvSpPr>
        <p:spPr>
          <a:xfrm>
            <a:off x="6080760" y="5422392"/>
            <a:ext cx="182880" cy="1828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55" name="Text 52"/>
          <p:cNvSpPr/>
          <p:nvPr/>
        </p:nvSpPr>
        <p:spPr>
          <a:xfrm>
            <a:off x="6355080" y="5257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保護者・地域連携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9875520" y="5349240"/>
            <a:ext cx="1554480" cy="3200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57" name="Text 54"/>
          <p:cNvSpPr/>
          <p:nvPr/>
        </p:nvSpPr>
        <p:spPr>
          <a:xfrm>
            <a:off x="9875520" y="5349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MSO 2C接続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82296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KatagrMa 保育経営診断ツール  |  2026.04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A5B8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リード取得から商談化までを完全自動化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診断完了の瞬間に、データ保存・CRM連携・メール配信・営業通知まで同時実行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2926080" cy="42062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5B8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診断完了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BBBBB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トリガーイベント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54480" y="3429000"/>
            <a:ext cx="1097280" cy="0"/>
          </a:xfrm>
          <a:prstGeom prst="line">
            <a:avLst/>
          </a:prstGeom>
          <a:noFill/>
          <a:ln w="25400">
            <a:solidFill>
              <a:srgbClr val="A5B8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この瞬間にサーバーが受け取るデータ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8680" y="4050792"/>
            <a:ext cx="109728" cy="109728"/>
          </a:xfrm>
          <a:prstGeom prst="ellipse">
            <a:avLst/>
          </a:prstGeom>
          <a:solidFill>
            <a:srgbClr val="A5B830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30問の回答スコア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4462272"/>
            <a:ext cx="109728" cy="109728"/>
          </a:xfrm>
          <a:prstGeom prst="ellipse">
            <a:avLst/>
          </a:prstGeom>
          <a:solidFill>
            <a:srgbClr val="A5B830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389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基本情報（メール必須）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4873752"/>
            <a:ext cx="109728" cy="109728"/>
          </a:xfrm>
          <a:prstGeom prst="ellipse">
            <a:avLst/>
          </a:prstGeom>
          <a:solidFill>
            <a:srgbClr val="A5B830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AI所見・改善提案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8680" y="5285232"/>
            <a:ext cx="109728" cy="109728"/>
          </a:xfrm>
          <a:prstGeom prst="ellipse">
            <a:avLst/>
          </a:prstGeom>
          <a:solidFill>
            <a:srgbClr val="A5B830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5212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UTM流入パラメータ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5B830"/>
                </a:solidFill>
              </a:rPr>
              <a:t>▶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4297680" y="201168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97680" y="2011680"/>
            <a:ext cx="91440" cy="196596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22" name="Text 19"/>
          <p:cNvSpPr/>
          <p:nvPr/>
        </p:nvSpPr>
        <p:spPr>
          <a:xfrm>
            <a:off x="452628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52628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 永続化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26280" y="3154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全診断データを保存（PII含む22項目）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229600" y="201168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29600" y="2011680"/>
            <a:ext cx="91440" cy="19659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7" name="Text 24"/>
          <p:cNvSpPr/>
          <p:nvPr/>
        </p:nvSpPr>
        <p:spPr>
          <a:xfrm>
            <a:off x="845820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45820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Zoho CRM 自動登録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458200" y="3154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Webhook経由でリード化・UTM連動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297680" y="425196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297680" y="4251960"/>
            <a:ext cx="91440" cy="196596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26280" y="4434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C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452628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サンキューメール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526280" y="5394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Resend経由で即時送信（PDF添付対応）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229600" y="425196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8229600" y="4251960"/>
            <a:ext cx="91440" cy="196596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37" name="Text 34"/>
          <p:cNvSpPr/>
          <p:nvPr/>
        </p:nvSpPr>
        <p:spPr>
          <a:xfrm>
            <a:off x="8458200" y="4434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845820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営業チーム通知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458200" y="5394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相談申込時にBCC通知で即応体制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solidFill>
            <a:srgbClr val="F0F3D8"/>
          </a:solidFill>
          <a:ln/>
        </p:spPr>
      </p:sp>
      <p:sp>
        <p:nvSpPr>
          <p:cNvPr id="41" name="Text 38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UTMパラメータ自動捕捉  /  Basic Auth保護された管理画面で進捗モニタリング  /  Zoho Lead ID 連携済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22960" y="662940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KatagrMa 保育経営診断ツール  |  2026.04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A5B8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管理画面ダッシュボード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Basic Auth保護。統計サマリ・診断一覧・詳細ビューで全件を一元管理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920240"/>
            <a:ext cx="108813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2029968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2029968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202996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146304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admin.katagrma.jp/shindan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診断結果 管理ダッシュボード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（表示は参考イメージ）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4400" y="2971800"/>
            <a:ext cx="2423160" cy="109728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総診断数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5156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247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520440" y="2971800"/>
            <a:ext cx="2423160" cy="109728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相談申込数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52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>
            <a:off x="6126480" y="2971800"/>
            <a:ext cx="2423160" cy="109728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コンバージョン率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6364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21.1%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8732520" y="2971800"/>
            <a:ext cx="2423160" cy="109728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24" name="Text 21"/>
          <p:cNvSpPr/>
          <p:nvPr/>
        </p:nvSpPr>
        <p:spPr>
          <a:xfrm>
            <a:off x="886968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平均スコア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86968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58</a:t>
            </a:r>
            <a:endParaRPr lang="en-US" sz="3600" dirty="0"/>
          </a:p>
        </p:txBody>
      </p:sp>
      <p:sp>
        <p:nvSpPr>
          <p:cNvPr id="26" name="Shape 23"/>
          <p:cNvSpPr/>
          <p:nvPr/>
        </p:nvSpPr>
        <p:spPr>
          <a:xfrm>
            <a:off x="914400" y="4343400"/>
            <a:ext cx="10378440" cy="2743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7" name="Text 24"/>
          <p:cNvSpPr/>
          <p:nvPr/>
        </p:nvSpPr>
        <p:spPr>
          <a:xfrm>
            <a:off x="105156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日時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06324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法人名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6364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施設数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45236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スコア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641080" y="4343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ランク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921240" y="4343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相談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14400" y="4663440"/>
            <a:ext cx="1037844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1"/>
          <p:cNvSpPr/>
          <p:nvPr/>
        </p:nvSpPr>
        <p:spPr>
          <a:xfrm>
            <a:off x="105156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04-19 12:34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063240" y="4663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社会福祉法人 A会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263640" y="4663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452360" y="4663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641080" y="4663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9921240" y="4663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申込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051560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04-19 11:02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06324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学校法人 B学園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263640" y="4983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452360" y="4983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72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641080" y="4983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9921240" y="4983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914400" y="5303520"/>
            <a:ext cx="1037844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7" name="Text 44"/>
          <p:cNvSpPr/>
          <p:nvPr/>
        </p:nvSpPr>
        <p:spPr>
          <a:xfrm>
            <a:off x="1051560" y="5303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04-18 18:44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3063240" y="5303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 C保育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263640" y="5303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452360" y="5303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641080" y="5303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9921240" y="5303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申込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1051560" y="5623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04-18 15:11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06324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NPO法人 D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263640" y="5623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7452360" y="5623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8641080" y="5623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9921240" y="5623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82296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KatagrMa 保育経営診断ツール  |  2026.04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A5B8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KPI目標 &amp; 実装状況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 / Phase 2 の実装は完了。あとは本番デプロイと質問文最終化のみ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901952"/>
            <a:ext cx="73152" cy="292608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目標KPI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240280"/>
            <a:ext cx="2606040" cy="73152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2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100+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3152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月間診断完了数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22402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2240280"/>
            <a:ext cx="2606040" cy="73152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2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347472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メールアドレス取得率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22402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240280"/>
            <a:ext cx="2606040" cy="73152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2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20%+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21792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相談申込CVR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869680" y="22402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869680" y="2240280"/>
            <a:ext cx="2606040" cy="73152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22" name="Text 19"/>
          <p:cNvSpPr/>
          <p:nvPr/>
        </p:nvSpPr>
        <p:spPr>
          <a:xfrm>
            <a:off x="896112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2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30%+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896112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PoC本契約移行率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4050792"/>
            <a:ext cx="73152" cy="292608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実装状況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0080" y="438912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0080" y="4389120"/>
            <a:ext cx="109728" cy="182880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28" name="Text 25"/>
          <p:cNvSpPr/>
          <p:nvPr/>
        </p:nvSpPr>
        <p:spPr>
          <a:xfrm>
            <a:off x="91440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 — MVP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246120" y="4572000"/>
            <a:ext cx="822960" cy="27432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30" name="Text 27"/>
          <p:cNvSpPr/>
          <p:nvPr/>
        </p:nvSpPr>
        <p:spPr>
          <a:xfrm>
            <a:off x="3246120" y="4572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14400" y="4983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診断UI（6画面30問）/ スコアリング / Claude Opus 4.7 AI分析 / レーダーチャート結果レポート / モバイル対応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97680" y="438912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297680" y="4389120"/>
            <a:ext cx="109728" cy="182880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 — リード最適化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903720" y="4572000"/>
            <a:ext cx="822960" cy="27432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36" name="Text 33"/>
          <p:cNvSpPr/>
          <p:nvPr/>
        </p:nvSpPr>
        <p:spPr>
          <a:xfrm>
            <a:off x="6903720" y="4572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0" y="4983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SQLite永続化 / Zoho CRM Webhook / サンキューメール / 営業通知 / 管理画面ダッシュボード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955280" y="438912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955280" y="4389120"/>
            <a:ext cx="109728" cy="182880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40" name="Text 37"/>
          <p:cNvSpPr/>
          <p:nvPr/>
        </p:nvSpPr>
        <p:spPr>
          <a:xfrm>
            <a:off x="822960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 — 本番化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0561320" y="4572000"/>
            <a:ext cx="822960" cy="2743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42" name="Text 39"/>
          <p:cNvSpPr/>
          <p:nvPr/>
        </p:nvSpPr>
        <p:spPr>
          <a:xfrm>
            <a:off x="10561320" y="4572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着手予定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229600" y="4983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質問30問の最終化 / 535施設ベンチマーク算出 / 本番デプロイ / ウェビナー連携 / A/Bテスト基盤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2296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KatagrMa 保育経営診断ツール  |  2026.04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5B8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6304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7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MVPは完成。残タスクを順次消化することで、ウェビナー集客テストへ展開可能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3566160" cy="3931920"/>
          </a:xfrm>
          <a:prstGeom prst="rect">
            <a:avLst/>
          </a:prstGeom>
          <a:solidFill>
            <a:srgbClr val="3A3A3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109728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質問30問の最終化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97280" y="3931920"/>
            <a:ext cx="548640" cy="0"/>
          </a:xfrm>
          <a:prstGeom prst="line">
            <a:avLst/>
          </a:prstGeom>
          <a:noFill/>
          <a:ln w="25400">
            <a:solidFill>
              <a:srgbClr val="A5B8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4069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担当: </a:t>
            </a:r>
            <a:pPr indent="0" marL="0">
              <a:buNone/>
            </a:pPr>
            <a:r>
              <a:rPr lang="en-US" sz="1100" b="1" dirty="0">
                <a:solidFill>
                  <a:srgbClr val="F8F7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大嶽CEO監修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期間: </a:t>
            </a:r>
            <a:pPr indent="0" marL="0">
              <a:buNone/>
            </a:pPr>
            <a:r>
              <a:rPr lang="en-US" sz="1100" b="1" dirty="0">
                <a:solidFill>
                  <a:srgbClr val="A5B8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1週間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4846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プレースホルダーを保育コンサル経験ベースで差し替え。JSONから読み込む構造のため、コード変更不要。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2103120"/>
            <a:ext cx="3566160" cy="3931920"/>
          </a:xfrm>
          <a:prstGeom prst="rect">
            <a:avLst/>
          </a:prstGeom>
          <a:solidFill>
            <a:srgbClr val="3A3A3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7200" dirty="0"/>
          </a:p>
        </p:txBody>
      </p:sp>
      <p:sp>
        <p:nvSpPr>
          <p:cNvPr id="14" name="Text 11"/>
          <p:cNvSpPr/>
          <p:nvPr/>
        </p:nvSpPr>
        <p:spPr>
          <a:xfrm>
            <a:off x="484632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535施設ベンチマーク算出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846320" y="3931920"/>
            <a:ext cx="548640" cy="0"/>
          </a:xfrm>
          <a:prstGeom prst="line">
            <a:avLst/>
          </a:prstGeom>
          <a:noFill/>
          <a:ln w="25400">
            <a:solidFill>
              <a:srgbClr val="A5B8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4069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担当: </a:t>
            </a:r>
            <a:pPr indent="0" marL="0">
              <a:buNone/>
            </a:pPr>
            <a:r>
              <a:rPr lang="en-US" sz="1100" b="1" dirty="0">
                <a:solidFill>
                  <a:srgbClr val="F8F7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データチーム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期間: </a:t>
            </a:r>
            <a:pPr indent="0" marL="0">
              <a:buNone/>
            </a:pPr>
            <a:r>
              <a:rPr lang="en-US" sz="1100" b="1" dirty="0">
                <a:solidFill>
                  <a:srgbClr val="A5B8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2週間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4846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現在は推定値（業界平均52/38/45/48/42/55）。実データから算出して差し替え、診断精度を向上。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103120"/>
            <a:ext cx="3566160" cy="3931920"/>
          </a:xfrm>
          <a:prstGeom prst="rect">
            <a:avLst/>
          </a:prstGeom>
          <a:solidFill>
            <a:srgbClr val="3A3A3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A5B8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7200" dirty="0"/>
          </a:p>
        </p:txBody>
      </p:sp>
      <p:sp>
        <p:nvSpPr>
          <p:cNvPr id="20" name="Text 17"/>
          <p:cNvSpPr/>
          <p:nvPr/>
        </p:nvSpPr>
        <p:spPr>
          <a:xfrm>
            <a:off x="859536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本番デプロイ &amp; ドメイン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595360" y="3931920"/>
            <a:ext cx="548640" cy="0"/>
          </a:xfrm>
          <a:prstGeom prst="line">
            <a:avLst/>
          </a:prstGeom>
          <a:noFill/>
          <a:ln w="25400">
            <a:solidFill>
              <a:srgbClr val="A5B8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95360" y="4069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担当: </a:t>
            </a:r>
            <a:pPr indent="0" marL="0">
              <a:buNone/>
            </a:pPr>
            <a:r>
              <a:rPr lang="en-US" sz="1100" b="1" dirty="0">
                <a:solidFill>
                  <a:srgbClr val="F8F7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エンジニア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期間: </a:t>
            </a:r>
            <a:pPr indent="0" marL="0">
              <a:buNone/>
            </a:pPr>
            <a:r>
              <a:rPr lang="en-US" sz="1100" b="1" dirty="0">
                <a:solidFill>
                  <a:srgbClr val="A5B8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95360" y="4846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shindan.katagrma.jp へ公開。ウェビナー LP / メルマガから誘導開始。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solidFill>
            <a:srgbClr val="A5B830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着手順で進めれば、2026年5月末までにウェビナー集客テストを開始可能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保育経営診断ツール プロトタイプ完成報告</dc:title>
  <dc:subject>PptxGenJS Presentation</dc:subject>
  <dc:creator>KatagrMa Beyond SaaS Team</dc:creator>
  <cp:lastModifiedBy>KatagrMa Beyond SaaS Team</cp:lastModifiedBy>
  <cp:revision>1</cp:revision>
  <dcterms:created xsi:type="dcterms:W3CDTF">2026-04-18T18:32:21Z</dcterms:created>
  <dcterms:modified xsi:type="dcterms:W3CDTF">2026-04-18T18:32:21Z</dcterms:modified>
</cp:coreProperties>
</file>